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智聘未来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AI全流程智能招聘系统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926080"/>
            <a:ext cx="36576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055745"/>
            <a:ext cx="4572000" cy="8915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参赛院校：</a:t>
            </a:r>
            <a:r>
              <a:rPr lang="zh-CN">
                <a:sym typeface="+mn-ea"/>
              </a:rPr>
              <a:t>滇西应用技术大学</a:t>
            </a:r>
            <a:endParaRPr>
              <a:sym typeface="+mn-ea"/>
            </a:endParaRPr>
          </a:p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sz="1200">
                <a:sym typeface="+mn-ea"/>
              </a:rPr>
              <a:t>开发人</a:t>
            </a:r>
            <a:r>
              <a:rPr sz="1200">
                <a:sym typeface="+mn-ea"/>
              </a:rPr>
              <a:t>：</a:t>
            </a:r>
            <a:r>
              <a:rPr lang="zh-CN" sz="1200">
                <a:sym typeface="+mn-ea"/>
              </a:rPr>
              <a:t>陈杰飞</a:t>
            </a:r>
            <a:br/>
            <a:br/>
            <a:br/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目录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" y="1371600"/>
            <a:ext cx="201168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19" y="15544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19" y="21945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743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行业痛点分析</a:t>
            </a:r>
            <a:br/>
            <a:r>
              <a:t>AI解决方案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371600"/>
            <a:ext cx="201168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5544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功能介绍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求职者端功能</a:t>
            </a:r>
            <a:br/>
            <a:r>
              <a:t>HR管理端功能</a:t>
            </a:r>
            <a:br/>
            <a:r>
              <a:t>完整流程演示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201168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544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系统架构设计</a:t>
            </a:r>
            <a:br/>
            <a:r>
              <a:t>核心技术实现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371600"/>
            <a:ext cx="201168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创新与展望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432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创新亮点</a:t>
            </a:r>
            <a:br/>
            <a:r>
              <a:t>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01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01 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47472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传统招聘痛点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479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效率低下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HR每天处理100+简历</a:t>
            </a:r>
            <a:br/>
            <a:r>
              <a:t>平均筛选时间：30分钟/份</a:t>
            </a:r>
            <a:br/>
            <a:r>
              <a:t>大量重复性工作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体验不佳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求职者：流程不透明</a:t>
            </a:r>
            <a:br/>
            <a:r>
              <a:t>反馈慢、体验差</a:t>
            </a:r>
            <a:br/>
            <a:r>
              <a:t>重复填写信息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公平性难保证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主观因素影响大</a:t>
            </a:r>
            <a:br/>
            <a:r>
              <a:t>评分标准不统一</a:t>
            </a:r>
            <a:br/>
            <a:r>
              <a:t>难以横向对比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005840"/>
            <a:ext cx="3931920" cy="347472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智聘未来解决方案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9479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效率提升80%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8308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AI自动筛选简历</a:t>
            </a:r>
            <a:br/>
            <a:r>
              <a:t>智能评分排序</a:t>
            </a:r>
            <a:br/>
            <a:r>
              <a:t>批量处理能力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23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体验优化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4320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自然语言交互</a:t>
            </a:r>
            <a:br/>
            <a:r>
              <a:t>即时反馈</a:t>
            </a:r>
            <a:br/>
            <a:r>
              <a:t>流程透明可见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3832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公平公正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5760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标准化评分体系</a:t>
            </a:r>
            <a:br/>
            <a:r>
              <a:t>统一评估维度</a:t>
            </a:r>
            <a:br/>
            <a:r>
              <a:t>数据驱动决策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据《中国人力资源管理发展报告》显示，HR平均每天花费2.5小时在简历筛选上，AI辅助招聘可提升效率80%以上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457200" y="81915"/>
            <a:ext cx="8458200" cy="4892040"/>
            <a:chOff x="720" y="432"/>
            <a:chExt cx="13320" cy="7704"/>
          </a:xfrm>
        </p:grpSpPr>
        <p:sp>
          <p:nvSpPr>
            <p:cNvPr id="3" name="TextBox 2"/>
            <p:cNvSpPr txBox="1"/>
            <p:nvPr/>
          </p:nvSpPr>
          <p:spPr>
            <a:xfrm>
              <a:off x="720" y="432"/>
              <a:ext cx="12960" cy="864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defRPr sz="4000" b="1">
                  <a:solidFill>
                    <a:srgbClr val="1E3A5F"/>
                  </a:solidFill>
                  <a:latin typeface="微软雅黑" panose="020B0503020204020204" charset="-122"/>
                </a:defRPr>
              </a:pPr>
              <a:r>
                <a:t>系统概述 SYSTEM OVERVIEW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040" y="1584"/>
              <a:ext cx="4320" cy="1152"/>
            </a:xfrm>
            <a:prstGeom prst="roundRect">
              <a:avLst>
                <a:gd name="adj" fmla="val 10000"/>
              </a:avLst>
            </a:prstGeom>
            <a:solidFill>
              <a:srgbClr val="4A9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40" y="1584"/>
              <a:ext cx="4320" cy="11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6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AI评分引擎</a:t>
              </a:r>
              <a:br/>
              <a:r>
                <a:t>四维度智能评分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440" y="3168"/>
              <a:ext cx="3600" cy="2160"/>
            </a:xfrm>
            <a:prstGeom prst="roundRect">
              <a:avLst>
                <a:gd name="adj" fmla="val 10000"/>
              </a:avLst>
            </a:prstGeom>
            <a:solidFill>
              <a:srgbClr val="E8F4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40" y="3312"/>
              <a:ext cx="3600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000" b="1">
                  <a:solidFill>
                    <a:srgbClr val="1E3A5F"/>
                  </a:solidFill>
                  <a:latin typeface="微软雅黑" panose="020B0503020204020204" charset="-122"/>
                </a:defRPr>
              </a:pPr>
              <a:r>
                <a:t>求职者端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40" y="3888"/>
              <a:ext cx="3600" cy="144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400" b="0">
                  <a:solidFill>
                    <a:srgbClr val="2C3E50"/>
                  </a:solidFill>
                  <a:latin typeface="微软雅黑" panose="020B0503020204020204" charset="-122"/>
                </a:defRPr>
              </a:pPr>
              <a:r>
                <a:t>AI对话投递</a:t>
              </a:r>
              <a:br/>
              <a:r>
                <a:t>AI简历评分</a:t>
              </a:r>
              <a:br/>
              <a:r>
                <a:t>限时面试</a:t>
              </a:r>
              <a:br/>
              <a:r>
                <a:t>即时反馈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60" y="3168"/>
              <a:ext cx="3600" cy="2160"/>
            </a:xfrm>
            <a:prstGeom prst="roundRect">
              <a:avLst>
                <a:gd name="adj" fmla="val 10000"/>
              </a:avLst>
            </a:prstGeom>
            <a:solidFill>
              <a:srgbClr val="E8F4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360" y="3312"/>
              <a:ext cx="3600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000" b="1">
                  <a:solidFill>
                    <a:srgbClr val="1E3A5F"/>
                  </a:solidFill>
                  <a:latin typeface="微软雅黑" panose="020B0503020204020204" charset="-122"/>
                </a:defRPr>
              </a:pPr>
              <a:r>
                <a:t>HR管理端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360" y="3888"/>
              <a:ext cx="3600" cy="144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400" b="0">
                  <a:solidFill>
                    <a:srgbClr val="2C3E50"/>
                  </a:solidFill>
                  <a:latin typeface="微软雅黑" panose="020B0503020204020204" charset="-122"/>
                </a:defRPr>
              </a:pPr>
              <a:r>
                <a:t>人才库</a:t>
              </a:r>
              <a:br/>
              <a:r>
                <a:t>岗位管理</a:t>
              </a:r>
              <a:br/>
              <a:r>
                <a:t>面试安排</a:t>
              </a:r>
              <a:br/>
              <a:r>
                <a:t>录用通知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40" y="5760"/>
              <a:ext cx="4320" cy="864"/>
            </a:xfrm>
            <a:prstGeom prst="roundRect">
              <a:avLst>
                <a:gd name="adj" fmla="val 10000"/>
              </a:avLst>
            </a:prstGeom>
            <a:solidFill>
              <a:srgbClr val="27AE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40" y="5760"/>
              <a:ext cx="4320" cy="864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4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邮件通知系统 - 全流程邮件提醒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20" y="6768"/>
              <a:ext cx="5760" cy="720"/>
            </a:xfrm>
            <a:prstGeom prst="roundRect">
              <a:avLst>
                <a:gd name="adj" fmla="val 5000"/>
              </a:avLst>
            </a:prstGeom>
            <a:solidFill>
              <a:srgbClr val="ECF0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20" y="6768"/>
              <a:ext cx="5760" cy="72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200" b="0">
                  <a:solidFill>
                    <a:srgbClr val="2C3E50"/>
                  </a:solidFill>
                  <a:latin typeface="微软雅黑" panose="020B0503020204020204" charset="-122"/>
                </a:defRPr>
              </a:pPr>
              <a:r>
                <a:t>MySQL + SQLite 双数据库支持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0" y="7200"/>
              <a:ext cx="3168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800" b="1">
                  <a:solidFill>
                    <a:srgbClr val="4A90D9"/>
                  </a:solidFill>
                  <a:latin typeface="微软雅黑" panose="020B0503020204020204" charset="-122"/>
                </a:defRPr>
              </a:pPr>
              <a:r>
                <a:t>1,000+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0" y="7776"/>
              <a:ext cx="3168" cy="36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200" b="0">
                  <a:solidFill>
                    <a:srgbClr val="7F8C8D"/>
                  </a:solidFill>
                  <a:latin typeface="微软雅黑" panose="020B0503020204020204" charset="-122"/>
                </a:defRPr>
              </a:pPr>
              <a:r>
                <a:t>已服务简历处理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04" y="7200"/>
              <a:ext cx="3168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800" b="1">
                  <a:solidFill>
                    <a:srgbClr val="4A90D9"/>
                  </a:solidFill>
                  <a:latin typeface="微软雅黑" panose="020B0503020204020204" charset="-122"/>
                </a:defRPr>
              </a:pPr>
              <a:r>
                <a:t>8.5/10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04" y="7776"/>
              <a:ext cx="3168" cy="36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200" b="0">
                  <a:solidFill>
                    <a:srgbClr val="7F8C8D"/>
                  </a:solidFill>
                  <a:latin typeface="微软雅黑" panose="020B0503020204020204" charset="-122"/>
                </a:defRPr>
              </a:pPr>
              <a:r>
                <a:t>平均评分满意度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88" y="7200"/>
              <a:ext cx="3168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800" b="1">
                  <a:solidFill>
                    <a:srgbClr val="4A90D9"/>
                  </a:solidFill>
                  <a:latin typeface="微软雅黑" panose="020B0503020204020204" charset="-122"/>
                </a:defRPr>
              </a:pPr>
              <a:r>
                <a:t>&lt;3秒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88" y="7776"/>
              <a:ext cx="3168" cy="36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200" b="0">
                  <a:solidFill>
                    <a:srgbClr val="7F8C8D"/>
                  </a:solidFill>
                  <a:latin typeface="微软雅黑" panose="020B0503020204020204" charset="-122"/>
                </a:defRPr>
              </a:pPr>
              <a:r>
                <a:t>AI响应时间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872" y="7200"/>
              <a:ext cx="3168" cy="576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2800" b="1">
                  <a:solidFill>
                    <a:srgbClr val="4A90D9"/>
                  </a:solidFill>
                  <a:latin typeface="微软雅黑" panose="020B0503020204020204" charset="-122"/>
                </a:defRPr>
              </a:pPr>
              <a:r>
                <a:t>99.5%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872" y="7776"/>
              <a:ext cx="3168" cy="36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defRPr sz="1200" b="0">
                  <a:solidFill>
                    <a:srgbClr val="7F8C8D"/>
                  </a:solidFill>
                  <a:latin typeface="微软雅黑" panose="020B0503020204020204" charset="-122"/>
                </a:defRPr>
              </a:pPr>
              <a:r>
                <a:t>邮件送达率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02 功能介绍 · 求职者端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" y="100584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19" y="11430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AI对话投递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1645920"/>
            <a:ext cx="2377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自然语言理解</a:t>
            </a:r>
            <a:br/>
            <a:r>
              <a:t>智能信息提取</a:t>
            </a:r>
            <a:br/>
            <a:r>
              <a:t>自动匹配岗位</a:t>
            </a:r>
            <a:br/>
            <a:r>
              <a:t>即时确认反馈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79" y="338328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" y="34290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求职者发送简历 → AI智能解析 → 自动匹配合适岗位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0584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AI简历评分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377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基础知识（20%）</a:t>
            </a:r>
            <a:br/>
            <a:r>
              <a:t>项目经历（25%）</a:t>
            </a:r>
            <a:br/>
            <a:r>
              <a:t>实习经历（25%）</a:t>
            </a:r>
            <a:br/>
            <a:r>
              <a:t>技能实战（30%）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38328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4290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综合评分 + 详细报告</a:t>
            </a:r>
            <a:br/>
            <a:r>
              <a:t>改进建议 + 匹配度分析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限时AI面试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45920"/>
            <a:ext cx="2377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48小时有效面试链接</a:t>
            </a:r>
            <a:br/>
            <a:r>
              <a:t>基于JD+简历生成题目</a:t>
            </a:r>
            <a:br/>
            <a:r>
              <a:t>AI自动评估回答</a:t>
            </a:r>
            <a:br/>
            <a:r>
              <a:t>即时反馈面试结果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80"/>
            <a:ext cx="246888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2900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接收邀请 → 开始面试 → 回答问题 → AI评估 → 获得结果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02 功能介绍 · HR管理端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数据统计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3443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岗位管理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增删改查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3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人才库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0020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搜索筛选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自动筛选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智能推荐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05740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候选人对比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6032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多维对比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05740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简历管理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60320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统一管理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5467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面试管理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39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查看记录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01752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15467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HR面试安排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520439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预约管理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01752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79"/>
            <a:ext cx="237743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录用通知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520439"/>
            <a:ext cx="23774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发送通知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49039"/>
            <a:ext cx="8046719" cy="457200"/>
          </a:xfrm>
          <a:prstGeom prst="roundRect">
            <a:avLst>
              <a:gd name="adj" fmla="val 5000"/>
            </a:avLst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49039"/>
            <a:ext cx="804671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操作日志 - 完整审计追踪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登录认证 | 角色权限 | 数据安全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02 功能介绍 · 完整流程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投递简历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1732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AI智能解析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简历评分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查看评分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24028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4. 发送面试邀请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24028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2402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安排面试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65176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651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5. AI限时面试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06324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0632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6. 面试结果反馈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06324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063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审核结果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47472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474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7. 人才库录入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3886200"/>
            <a:ext cx="2286000" cy="320040"/>
          </a:xfrm>
          <a:prstGeom prst="roundRect">
            <a:avLst>
              <a:gd name="adj" fmla="val 5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886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8. 录用/继续评估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8862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38862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做出决策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19" y="429768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19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5分钟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19" y="462724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平均处理时间</a:t>
            </a:r>
            <a:br/>
            <a:r>
              <a:t>(传统30分钟)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29768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4261485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9.2/10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2724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候选人满意度</a:t>
            </a:r>
            <a:br/>
            <a:r>
              <a:t>(非常满意)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29768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26085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提升80%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64121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HR工作效率</a:t>
            </a:r>
            <a:br/>
            <a:r>
              <a:t>(自动化筛选)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03 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7315200" cy="822960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39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用户交互层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258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Streamlit 求职者端 | Streamlit HR管理端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7315200" cy="8229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79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业务逻辑层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AI对话 | AI评分 | 面试 | 邮件服务 | 日志系统 | HR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7315200" cy="8229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数据服务层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阿里云百炼 Qwen API | SMTP 邮件服务 | MySQL/SQLite</a:t>
            </a: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85140" y="406019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后端框架</a:t>
            </a: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485140" y="438023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Python 3.10+</a:t>
            </a:r>
            <a:br/>
            <a:r>
              <a:t>Streamlit 1.28+</a:t>
            </a:r>
            <a:br/>
            <a:r>
              <a:t>SQLite/MySQL</a:t>
            </a:r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2588260" y="406019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AI能力</a:t>
            </a: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2588260" y="438023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阿里云百炼 API</a:t>
            </a:r>
            <a:br/>
            <a:r>
              <a:t>自然语言处理</a:t>
            </a:r>
            <a:br/>
            <a:r>
              <a:t>智能评分算法</a:t>
            </a:r>
          </a:p>
        </p:txBody>
      </p:sp>
      <p:sp>
        <p:nvSpPr>
          <p:cNvPr id="17" name="TextBox 16"/>
          <p:cNvSpPr txBox="1"/>
          <p:nvPr>
            <p:custDataLst>
              <p:tags r:id="rId5"/>
            </p:custDataLst>
          </p:nvPr>
        </p:nvSpPr>
        <p:spPr>
          <a:xfrm>
            <a:off x="4691380" y="406019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邮件服务</a:t>
            </a:r>
          </a:p>
        </p:txBody>
      </p:sp>
      <p:sp>
        <p:nvSpPr>
          <p:cNvPr id="18" name="TextBox 17"/>
          <p:cNvSpPr txBox="1"/>
          <p:nvPr>
            <p:custDataLst>
              <p:tags r:id="rId6"/>
            </p:custDataLst>
          </p:nvPr>
        </p:nvSpPr>
        <p:spPr>
          <a:xfrm>
            <a:off x="4691380" y="438023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SMTP协议</a:t>
            </a:r>
            <a:br/>
            <a:r>
              <a:t>定时任务调度</a:t>
            </a:r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6794499" y="406019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数据存储</a:t>
            </a: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6794499" y="438023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MySQL (生产)</a:t>
            </a:r>
            <a:br/>
            <a:r>
              <a:t>SQLite (开发)</a:t>
            </a:r>
            <a:br/>
            <a:r>
              <a:t>文件系统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03 技术架构 · 核心技术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320040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AI评分引擎工作原理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3832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832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简历文本 + 岗位JD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3566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33832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智能解析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3832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文本清洗、关键信息提取、实体识别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3566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3832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四维度评分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33832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基础知识20%、项目经历25%</a:t>
            </a:r>
            <a:br/>
            <a:r>
              <a:t>实习经历25%、技能实战30%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3566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33832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输出层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79"/>
            <a:ext cx="338327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综合评分 + 详细报告</a:t>
            </a:r>
            <a:br/>
            <a:r>
              <a:t>改进建议 + 匹配度分析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05840"/>
            <a:ext cx="3931920" cy="320040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面试题智能生成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55702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基于JD和简历的差异化题目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79600"/>
            <a:ext cx="3566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传统：固定题库随机抽取</a:t>
            </a:r>
            <a:br/>
            <a:r>
              <a:t>我们：根据简历特点定制生成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多维度考察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799080"/>
            <a:ext cx="3566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技术深度、项目经验</a:t>
            </a:r>
            <a:br/>
            <a:r>
              <a:t>问题解决能力、逻辑思维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3375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智能评分标准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639185"/>
            <a:ext cx="3566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自然语言理解评估</a:t>
            </a:r>
            <a:br/>
            <a:r>
              <a:t>答案完整性、专业度判断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04 创新与展望 · 创新亮点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39" y="10058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199" y="11430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199" y="1143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1188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端到端AI招聘流程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60020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从简历投递到最终录用的全流程覆盖</a:t>
            </a:r>
            <a:br/>
            <a:r>
              <a:t>AI对话交互、智能筛选评分</a:t>
            </a:r>
            <a:br/>
            <a:r>
              <a:t>个性化面试、即时结果反馈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058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114300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143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188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个性化面试题智能生成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020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基于JD和简历的动态题目生成</a:t>
            </a:r>
            <a:br/>
            <a:r>
              <a:t>告别固定题库</a:t>
            </a:r>
            <a:br/>
            <a:r>
              <a:t>针对性强、考察全面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39" y="26517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199" y="278892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" y="27889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双数据库灵活部署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" y="324612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支持MySQL和SQLite双模式</a:t>
            </a:r>
            <a:br/>
            <a:r>
              <a:t>开发测试：SQLite（即装即用）</a:t>
            </a:r>
            <a:br/>
            <a:r>
              <a:t>生产环境：MySQL（高性能）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26517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46320" y="2788920"/>
            <a:ext cx="457200" cy="4572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7889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全流程审计日志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4612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完整记录所有操作痕迹</a:t>
            </a:r>
            <a:br/>
            <a:r>
              <a:t>操作可追溯、数据可审计</a:t>
            </a:r>
            <a:br/>
            <a:r>
              <a:t>决策有依据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19" y="41148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19" y="420624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19" y="4617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效率提升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1148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420624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617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成本降低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1148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20624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617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满意度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1148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20624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6177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公平性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04 创新与展望 · 未来规划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19" y="10972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199" y="1234439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199" y="1234439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2026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19" y="1737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短期规划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2286000"/>
            <a:ext cx="23774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数据可视化（FineBI集成）</a:t>
            </a:r>
            <a:br/>
            <a:r>
              <a:t>招聘漏斗分析、AI信度验证</a:t>
            </a:r>
            <a:br/>
            <a:r>
              <a:t>多轮对话优化、移动端适配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234439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39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2026 Q4 - 2027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3774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视频面试系统</a:t>
            </a:r>
            <a:br/>
            <a:r>
              <a:t>AI表情分析、语速语调评估</a:t>
            </a:r>
            <a:br/>
            <a:r>
              <a:t>智能推荐系统、团队协作功能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234439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39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2027 Q2+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37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长期愿景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23774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招聘行业大模型</a:t>
            </a:r>
            <a:br/>
            <a:r>
              <a:t>跨平台生态对接</a:t>
            </a:r>
            <a:br/>
            <a:r>
              <a:t>国际化支持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4A90D9"/>
                </a:solidFill>
                <a:latin typeface="微软雅黑" panose="020B0503020204020204" charset="-122"/>
              </a:defRPr>
            </a:pPr>
            <a:r>
              <a:t>THANK YOU FOR LISTENING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377440"/>
            <a:ext cx="36576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效率提升 80% | AI全流程覆盖</a:t>
            </a:r>
            <a:br/>
            <a:r>
              <a:t>公平公正评分 | 卓越用户体验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840480"/>
            <a:ext cx="36576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联系我们：team@zhipin-future.com</a:t>
            </a:r>
            <a:br/>
            <a:r>
              <a:t>项目地址：github.com/your-team/zhipin-future</a:t>
            </a:r>
            <a:br/>
            <a:br/>
            <a:r>
              <a:t>期待与您共同探索AI招聘新未来</a:t>
            </a:r>
            <a:br/>
            <a:r>
              <a:t>智聘未来 · 让招聘更智能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2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3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4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5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6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7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ags/tag8.xml><?xml version="1.0" encoding="utf-8"?>
<p:tagLst xmlns:p="http://schemas.openxmlformats.org/presentationml/2006/main">
  <p:tag name="KSO_WM_DIAGRAM_VIRTUALLY_FRAME" val="{&quot;height&quot;:82.8,&quot;left&quot;:38.2,&quot;top&quot;:319.7,&quot;width&quot;:655.1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WPS 演示</Application>
  <PresentationFormat>On-screen Show (4:3)</PresentationFormat>
  <Paragraphs>335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智聘未来 - AI全流程智能招聘系统</dc:title>
  <dc:creator>智聘未来团队</dc:creator>
  <dc:description>generated using python-pptx</dc:description>
  <dc:subject>AI智能招聘系统演示</dc:subject>
  <cp:lastModifiedBy>WPS_1650110180</cp:lastModifiedBy>
  <cp:revision>2</cp:revision>
  <dcterms:created xsi:type="dcterms:W3CDTF">2013-01-27T09:14:00Z</dcterms:created>
  <dcterms:modified xsi:type="dcterms:W3CDTF">2026-05-28T07:35:54Z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43DA2DB935AD4863BC8F16E5100B2C70_12</vt:lpwstr>
  </property>
</Properties>
</file>